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[ FULL BLEED IMAGE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2801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0" b="1">
                <a:solidFill>
                  <a:srgbClr val="FAFAFA"/>
                </a:solidFill>
                <a:latin typeface="Helvetica"/>
              </a:defRPr>
            </a:pPr>
            <a:r>
              <a:t>THE NEW STANDARD.</a:t>
            </a:r>
          </a:p>
          <a:p>
            <a:pPr>
              <a:spcBef>
                <a:spcPts val="2000"/>
              </a:spcBef>
              <a:defRPr sz="2400" b="1">
                <a:solidFill>
                  <a:srgbClr val="FF3232"/>
                </a:solidFill>
                <a:latin typeface="Helvetica"/>
              </a:defRPr>
            </a:pPr>
            <a:r>
              <a:t>CREATIVE AGENCY PROFILE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11887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8000"/>
              </a:lnSpc>
              <a:defRPr sz="7200" b="1">
                <a:solidFill>
                  <a:srgbClr val="FAFAFA"/>
                </a:solidFill>
                <a:latin typeface="Helvetica"/>
              </a:defRPr>
            </a:pPr>
            <a:r>
              <a:t>WE DON'T JUST FOLLOW CULTURE.</a:t>
            </a:r>
            <a:br/>
            <a:r>
              <a:t>WE ENGINEER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0" b="1">
                <a:solidFill>
                  <a:srgbClr val="FF3232"/>
                </a:solidFill>
                <a:latin typeface="Helvetica"/>
              </a:defRPr>
            </a:pPr>
            <a:r>
              <a:t>87%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2004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41414"/>
                </a:solidFill>
                <a:latin typeface="Arial"/>
              </a:defRPr>
            </a:pPr>
            <a:r>
              <a:t>OF CONSUMERS DEMAND RADICAL AUTHENTICITY FROM BRANDS IN 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AFAFA"/>
                </a:solidFill>
                <a:latin typeface="Helvetica"/>
              </a:defRPr>
            </a:pPr>
            <a:r>
              <a:t>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600"/>
              </a:lnSpc>
              <a:defRPr sz="2800">
                <a:solidFill>
                  <a:srgbClr val="787878"/>
                </a:solidFill>
                <a:latin typeface="Arial"/>
              </a:defRPr>
            </a:pPr>
            <a:r>
              <a:t>By dismantling traditional silos and integrating design, strategy, and technology from day one, we create cohesive ecosystems rather than isolated campaigns.</a:t>
            </a:r>
          </a:p>
        </p:txBody>
      </p:sp>
      <p:sp>
        <p:nvSpPr>
          <p:cNvPr id="5" name="Oval 4"/>
          <p:cNvSpPr/>
          <p:nvPr/>
        </p:nvSpPr>
        <p:spPr>
          <a:xfrm>
            <a:off x="9144000" y="2286000"/>
            <a:ext cx="3657600" cy="3657600"/>
          </a:xfrm>
          <a:prstGeom prst="ellipse">
            <a:avLst/>
          </a:prstGeom>
          <a:solidFill>
            <a:srgbClr val="FF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00" cy="82296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[ CASE STUDY HERO IMAGE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3232"/>
                </a:solidFill>
                <a:latin typeface="Helvetica"/>
              </a:defRPr>
            </a:pPr>
            <a:r>
              <a:t>CLIENT: GLOBAL TECH</a:t>
            </a:r>
          </a:p>
          <a:p>
            <a:pPr>
              <a:spcBef>
                <a:spcPts val="1000"/>
              </a:spcBef>
              <a:defRPr sz="4800" b="1">
                <a:solidFill>
                  <a:srgbClr val="141414"/>
                </a:solidFill>
                <a:latin typeface="Helvetica"/>
              </a:defRPr>
            </a:pPr>
            <a:r>
              <a:t>Redefining the Future of Connectivity</a:t>
            </a:r>
          </a:p>
          <a:p>
            <a:pPr>
              <a:spcBef>
                <a:spcPts val="2000"/>
              </a:spcBef>
              <a:defRPr sz="2000">
                <a:solidFill>
                  <a:srgbClr val="787878"/>
                </a:solidFill>
                <a:latin typeface="Arial"/>
              </a:defRPr>
            </a:pPr>
            <a:r>
              <a:t>A complete brand overhaul that drove a 300% increase in enterprise engagement within the first quarter.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646464"/>
                </a:solidFill>
              </a:defRPr>
            </a:pPr>
            <a:r>
              <a:t>[ FULL BLEED IMAGE ]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4114800"/>
            <a:ext cx="6400800" cy="3200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3232"/>
                </a:solidFill>
                <a:latin typeface="Helvetica"/>
              </a:defRPr>
            </a:pPr>
            <a:r>
              <a:t>BEVERAGE CATEGORY</a:t>
            </a:r>
          </a:p>
          <a:p>
            <a:pPr>
              <a:spcBef>
                <a:spcPts val="1000"/>
              </a:spcBef>
              <a:defRPr sz="3600" b="1">
                <a:solidFill>
                  <a:srgbClr val="FAFAFA"/>
                </a:solidFill>
                <a:latin typeface="Helvetica"/>
              </a:defRPr>
            </a:pPr>
            <a:r>
              <a:t>Liquid Culture: A global launch campaign.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41414"/>
                </a:solidFill>
                <a:latin typeface="Helvetica"/>
              </a:defRPr>
            </a:pPr>
            <a:r>
              <a:t>CAPABILITIES.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457200" cy="45720"/>
          </a:xfrm>
          <a:prstGeom prst="rect">
            <a:avLst/>
          </a:prstGeom>
          <a:solidFill>
            <a:srgbClr val="FF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4"/>
                </a:solidFill>
                <a:latin typeface="Helvetica"/>
              </a:defRPr>
            </a:pPr>
            <a:r>
              <a:t>Brand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2743200"/>
            <a:ext cx="457200" cy="45720"/>
          </a:xfrm>
          <a:prstGeom prst="rect">
            <a:avLst/>
          </a:prstGeom>
          <a:solidFill>
            <a:srgbClr val="FF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29260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4"/>
                </a:solidFill>
                <a:latin typeface="Helvetica"/>
              </a:defRPr>
            </a:pPr>
            <a:r>
              <a:t>Visual Identity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2743200"/>
            <a:ext cx="457200" cy="45720"/>
          </a:xfrm>
          <a:prstGeom prst="rect">
            <a:avLst/>
          </a:prstGeom>
          <a:solidFill>
            <a:srgbClr val="FF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0" y="29260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4"/>
                </a:solidFill>
                <a:latin typeface="Helvetica"/>
              </a:defRPr>
            </a:pPr>
            <a:r>
              <a:t>Campaign Creation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0" y="2743200"/>
            <a:ext cx="457200" cy="45720"/>
          </a:xfrm>
          <a:prstGeom prst="rect">
            <a:avLst/>
          </a:prstGeom>
          <a:solidFill>
            <a:srgbClr val="FF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0" y="29260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4"/>
                </a:solidFill>
                <a:latin typeface="Helvetica"/>
              </a:defRPr>
            </a:pPr>
            <a:r>
              <a:t>Digital Product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572000"/>
            <a:ext cx="457200" cy="45720"/>
          </a:xfrm>
          <a:prstGeom prst="rect">
            <a:avLst/>
          </a:prstGeom>
          <a:solidFill>
            <a:srgbClr val="FF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548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4"/>
                </a:solidFill>
                <a:latin typeface="Helvetica"/>
              </a:defRPr>
            </a:pPr>
            <a:r>
              <a:t>Social &amp; Content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0" y="4572000"/>
            <a:ext cx="457200" cy="45720"/>
          </a:xfrm>
          <a:prstGeom prst="rect">
            <a:avLst/>
          </a:prstGeom>
          <a:solidFill>
            <a:srgbClr val="FF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47548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4"/>
                </a:solidFill>
                <a:latin typeface="Helvetica"/>
              </a:defRPr>
            </a:pPr>
            <a:r>
              <a:t>Motion &amp; 3D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4572000"/>
            <a:ext cx="457200" cy="45720"/>
          </a:xfrm>
          <a:prstGeom prst="rect">
            <a:avLst/>
          </a:prstGeom>
          <a:solidFill>
            <a:srgbClr val="FF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47548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4"/>
                </a:solidFill>
                <a:latin typeface="Helvetica"/>
              </a:defRPr>
            </a:pPr>
            <a:r>
              <a:t>Experiential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0" y="4572000"/>
            <a:ext cx="457200" cy="45720"/>
          </a:xfrm>
          <a:prstGeom prst="rect">
            <a:avLst/>
          </a:prstGeom>
          <a:solidFill>
            <a:srgbClr val="FF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0" y="47548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1414"/>
                </a:solidFill>
                <a:latin typeface="Helvetica"/>
              </a:defRPr>
            </a:pPr>
            <a:r>
              <a:t>Data &amp; Analytics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AFAFA"/>
                </a:solidFill>
                <a:latin typeface="Helvetica"/>
              </a:defRPr>
            </a:pPr>
            <a:r>
              <a:t>METHODOLOGY.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743200" cy="1828800"/>
          </a:xfrm>
          <a:prstGeom prst="rect">
            <a:avLst/>
          </a:prstGeom>
          <a:solidFill>
            <a:srgbClr val="1E1E1E"/>
          </a:solidFill>
          <a:ln w="25400">
            <a:solidFill>
              <a:srgbClr val="FF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3232"/>
                </a:solidFill>
                <a:latin typeface="Helvetica"/>
              </a:defRPr>
            </a:pPr>
            <a:r>
              <a:t>01</a:t>
            </a:r>
          </a:p>
          <a:p>
            <a:pPr>
              <a:spcBef>
                <a:spcPts val="1000"/>
              </a:spcBef>
              <a:defRPr sz="2800" b="1">
                <a:solidFill>
                  <a:srgbClr val="FAFAFA"/>
                </a:solidFill>
                <a:latin typeface="Helvetica"/>
              </a:defRPr>
            </a:pPr>
            <a:r>
              <a:t>DISCOVER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749039" y="4389120"/>
            <a:ext cx="274320" cy="365760"/>
          </a:xfrm>
          <a:prstGeom prst="rightArrow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3657600"/>
            <a:ext cx="2743200" cy="1828800"/>
          </a:xfrm>
          <a:prstGeom prst="rect">
            <a:avLst/>
          </a:prstGeom>
          <a:solidFill>
            <a:srgbClr val="1E1E1E"/>
          </a:solidFill>
          <a:ln w="25400">
            <a:solidFill>
              <a:srgbClr val="FF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3232"/>
                </a:solidFill>
                <a:latin typeface="Helvetica"/>
              </a:defRPr>
            </a:pPr>
            <a:r>
              <a:t>02</a:t>
            </a:r>
          </a:p>
          <a:p>
            <a:pPr>
              <a:spcBef>
                <a:spcPts val="1000"/>
              </a:spcBef>
              <a:defRPr sz="2800" b="1">
                <a:solidFill>
                  <a:srgbClr val="FAFAFA"/>
                </a:solidFill>
                <a:latin typeface="Helvetica"/>
              </a:defRPr>
            </a:pPr>
            <a:r>
              <a:t>DEFINE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949440" y="4389120"/>
            <a:ext cx="274320" cy="365760"/>
          </a:xfrm>
          <a:prstGeom prst="rightArrow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3657600"/>
            <a:ext cx="2743200" cy="1828800"/>
          </a:xfrm>
          <a:prstGeom prst="rect">
            <a:avLst/>
          </a:prstGeom>
          <a:solidFill>
            <a:srgbClr val="1E1E1E"/>
          </a:solidFill>
          <a:ln w="25400">
            <a:solidFill>
              <a:srgbClr val="FF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3232"/>
                </a:solidFill>
                <a:latin typeface="Helvetica"/>
              </a:defRPr>
            </a:pPr>
            <a:r>
              <a:t>03</a:t>
            </a:r>
          </a:p>
          <a:p>
            <a:pPr>
              <a:spcBef>
                <a:spcPts val="1000"/>
              </a:spcBef>
              <a:defRPr sz="2800" b="1">
                <a:solidFill>
                  <a:srgbClr val="FAFAFA"/>
                </a:solidFill>
                <a:latin typeface="Helvetica"/>
              </a:defRPr>
            </a:pPr>
            <a:r>
              <a:t>DESIGN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0149840" y="4389120"/>
            <a:ext cx="274320" cy="365760"/>
          </a:xfrm>
          <a:prstGeom prst="rightArrow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0" y="3657600"/>
            <a:ext cx="2743200" cy="1828800"/>
          </a:xfrm>
          <a:prstGeom prst="rect">
            <a:avLst/>
          </a:prstGeom>
          <a:solidFill>
            <a:srgbClr val="1E1E1E"/>
          </a:solidFill>
          <a:ln w="25400">
            <a:solidFill>
              <a:srgbClr val="FF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3232"/>
                </a:solidFill>
                <a:latin typeface="Helvetica"/>
              </a:defRPr>
            </a:pPr>
            <a:r>
              <a:t>04</a:t>
            </a:r>
          </a:p>
          <a:p>
            <a:pPr>
              <a:spcBef>
                <a:spcPts val="1000"/>
              </a:spcBef>
              <a:defRPr sz="2800" b="1">
                <a:solidFill>
                  <a:srgbClr val="FAFAFA"/>
                </a:solidFill>
                <a:latin typeface="Helvetica"/>
              </a:defRPr>
            </a:pPr>
            <a:r>
              <a:t>DELIVER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141414"/>
                </a:solidFill>
                <a:latin typeface="Helvetica"/>
              </a:defRPr>
            </a:pPr>
            <a:r>
              <a:t>LEADERSHIP.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840480" cy="41148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[ PORTRAIT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040880"/>
            <a:ext cx="3840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1414"/>
                </a:solidFill>
                <a:latin typeface="Helvetica"/>
              </a:defRPr>
            </a:pPr>
            <a:r>
              <a:t>LEADER NAME 01</a:t>
            </a:r>
          </a:p>
          <a:p>
            <a:pPr>
              <a:defRPr sz="1400">
                <a:solidFill>
                  <a:srgbClr val="787878"/>
                </a:solidFill>
                <a:latin typeface="Arial"/>
              </a:defRPr>
            </a:pPr>
            <a:r>
              <a:t>Partner / Director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2743200"/>
            <a:ext cx="3840480" cy="41148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[ PORTRAIT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7040880"/>
            <a:ext cx="3840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1414"/>
                </a:solidFill>
                <a:latin typeface="Helvetica"/>
              </a:defRPr>
            </a:pPr>
            <a:r>
              <a:t>LEADER NAME 02</a:t>
            </a:r>
          </a:p>
          <a:p>
            <a:pPr>
              <a:defRPr sz="1400">
                <a:solidFill>
                  <a:srgbClr val="787878"/>
                </a:solidFill>
                <a:latin typeface="Arial"/>
              </a:defRPr>
            </a:pPr>
            <a:r>
              <a:t>Partner / Director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9692640" y="2743200"/>
            <a:ext cx="3840480" cy="41148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[ PORTRAIT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7040880"/>
            <a:ext cx="3840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1414"/>
                </a:solidFill>
                <a:latin typeface="Helvetica"/>
              </a:defRPr>
            </a:pPr>
            <a:r>
              <a:t>LEADER NAME 03</a:t>
            </a:r>
          </a:p>
          <a:p>
            <a:pPr>
              <a:defRPr sz="1400">
                <a:solidFill>
                  <a:srgbClr val="787878"/>
                </a:solidFill>
                <a:latin typeface="Arial"/>
              </a:defRPr>
            </a:pPr>
            <a:r>
              <a:t>Partner / Director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8000"/>
              </a:lnSpc>
              <a:defRPr sz="8000" b="1">
                <a:solidFill>
                  <a:srgbClr val="FAFAFA"/>
                </a:solidFill>
                <a:latin typeface="Helvetica"/>
              </a:defRPr>
            </a:pPr>
            <a:r>
              <a:t>LET'S BUILD</a:t>
            </a:r>
            <a:br/>
            <a:r>
              <a:t>SOMETHING</a:t>
            </a:r>
            <a:br/>
            <a:r>
              <a:t>ICONIC.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50292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AFAFA"/>
                </a:solidFill>
                <a:latin typeface="Helvetica"/>
              </a:defRPr>
            </a:pPr>
            <a:r>
              <a:t>HELLO@AGENCY.COM</a:t>
            </a:r>
          </a:p>
          <a:p>
            <a:pPr>
              <a:spcBef>
                <a:spcPts val="1000"/>
              </a:spcBef>
              <a:defRPr sz="2400" b="1">
                <a:solidFill>
                  <a:srgbClr val="FAFAFA"/>
                </a:solidFill>
                <a:latin typeface="Helvetica"/>
              </a:defRPr>
            </a:pPr>
            <a:r>
              <a:t>WWW.AGENCY.COM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